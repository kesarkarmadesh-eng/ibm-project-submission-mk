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1" r:id="rId10"/>
    <p:sldId id="260" r:id="rId11"/>
    <p:sldId id="287" r:id="rId12"/>
    <p:sldId id="291" r:id="rId13"/>
    <p:sldId id="288" r:id="rId14"/>
    <p:sldId id="290"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2633088" y="2843674"/>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970297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Madesh </a:t>
                      </a:r>
                      <a:r>
                        <a:rPr lang="en-IN" dirty="0" err="1"/>
                        <a:t>Kesarkar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Kesarkarmadesh@gmail.com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     9356553510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IN" sz="2400" b="1" dirty="0">
                <a:solidFill>
                  <a:srgbClr val="161616"/>
                </a:solidFill>
                <a:latin typeface="IBM Plex Sans" panose="020B0503050203000203" pitchFamily="34" charset="0"/>
              </a:rPr>
              <a:t>Cross-Domain Entrepreneurship, Business Development, &amp; SaaS Innovation]</a:t>
            </a: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b="1" dirty="0">
                <a:solidFill>
                  <a:srgbClr val="161616"/>
                </a:solidFill>
                <a:latin typeface="IBM Plex Sans" panose="020B0503050203000203" pitchFamily="34" charset="0"/>
              </a:rPr>
              <a:t>[</a:t>
            </a:r>
            <a:r>
              <a:rPr lang="en-IN" sz="2400" b="1" dirty="0"/>
              <a:t>Smart Business Idea Generator Agent]</a:t>
            </a:r>
            <a:endParaRPr lang="en-IN" sz="2400" b="1" dirty="0">
              <a:highlight>
                <a:srgbClr val="FFFF00"/>
              </a:highlight>
            </a:endParaRPr>
          </a:p>
        </p:txBody>
      </p:sp>
      <p:pic>
        <p:nvPicPr>
          <p:cNvPr id="5" name="Picture 4">
            <a:extLst>
              <a:ext uri="{FF2B5EF4-FFF2-40B4-BE49-F238E27FC236}">
                <a16:creationId xmlns:a16="http://schemas.microsoft.com/office/drawing/2014/main" id="{06EFB00B-421F-862E-0C8A-5DE227EE53FF}"/>
              </a:ext>
            </a:extLst>
          </p:cNvPr>
          <p:cNvPicPr>
            <a:picLocks noChangeAspect="1"/>
          </p:cNvPicPr>
          <p:nvPr/>
        </p:nvPicPr>
        <p:blipFill>
          <a:blip r:embed="rId3"/>
          <a:stretch>
            <a:fillRect/>
          </a:stretch>
        </p:blipFill>
        <p:spPr>
          <a:xfrm>
            <a:off x="3915321" y="3640226"/>
            <a:ext cx="1270371" cy="10658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909310"/>
          </a:xfrm>
          <a:prstGeom prst="rect">
            <a:avLst/>
          </a:prstGeom>
          <a:noFill/>
        </p:spPr>
        <p:txBody>
          <a:bodyPr wrap="square" rtlCol="0">
            <a:spAutoFit/>
          </a:bodyPr>
          <a:lstStyle/>
          <a:p>
            <a:pPr fontAlgn="base"/>
            <a:r>
              <a:rPr lang="en-IN" b="1" dirty="0"/>
              <a:t>Problem Statement: Smart Business Idea Generator Agent</a:t>
            </a:r>
            <a:r>
              <a:rPr lang="en-US" dirty="0"/>
              <a:t> </a:t>
            </a:r>
          </a:p>
          <a:p>
            <a:pPr fontAlgn="base"/>
            <a:endParaRPr lang="en-US" b="1" dirty="0"/>
          </a:p>
          <a:p>
            <a:pPr fontAlgn="base"/>
            <a:r>
              <a:rPr lang="en-US" b="1" dirty="0"/>
              <a:t>The Challenge</a:t>
            </a:r>
          </a:p>
          <a:p>
            <a:pPr fontAlgn="base"/>
            <a:endParaRPr lang="en-US" dirty="0"/>
          </a:p>
          <a:p>
            <a:pPr fontAlgn="base"/>
            <a:r>
              <a:rPr lang="en-IN" dirty="0"/>
              <a:t>In the digital era, innovation is crucial, but individuals, students, researchers, and organizations often struggle with idea generation. Brainstorming sessions are unstructured, inspiration is scattered across articles, videos, and social media, and existing tools focus on text-only prompts without context-awareness. The challenge is not just to suggest random ideas but to synthesize creativity, context, and relevance into intelligent, actionable ideas for diverse domains such as startups, research, content creation, or product development</a:t>
            </a:r>
            <a:r>
              <a:rPr lang="en-US" dirty="0"/>
              <a:t> </a:t>
            </a:r>
          </a:p>
          <a:p>
            <a:pPr fontAlgn="base"/>
            <a:endParaRPr lang="en-US" dirty="0"/>
          </a:p>
          <a:p>
            <a:pPr fontAlgn="base"/>
            <a:r>
              <a:rPr lang="en-US" b="1" dirty="0"/>
              <a:t>The Objective</a:t>
            </a:r>
            <a:r>
              <a:rPr lang="en-US" dirty="0"/>
              <a:t> </a:t>
            </a:r>
          </a:p>
          <a:p>
            <a:pPr fontAlgn="base"/>
            <a:r>
              <a:rPr lang="en-IN" dirty="0"/>
              <a:t>Build an agentic AI Smart Idea Generator that empowers users with contextual, innovative, and multimodal ideation. The solution should: </a:t>
            </a:r>
            <a:r>
              <a:rPr lang="en-US" dirty="0"/>
              <a:t> </a:t>
            </a:r>
          </a:p>
          <a:p>
            <a:pPr marL="285750" indent="-285750" fontAlgn="base">
              <a:buFont typeface="Arial" panose="020B0604020202020204" pitchFamily="34" charset="0"/>
              <a:buChar char="•"/>
            </a:pPr>
            <a:r>
              <a:rPr lang="en-IN" b="1" dirty="0"/>
              <a:t>Fuse Knowledge Sources: </a:t>
            </a:r>
            <a:r>
              <a:rPr lang="en-IN" dirty="0"/>
              <a:t>Pull insights from articles, research papers, trend analysis, and social platforms to generate contextual and current ideas.</a:t>
            </a:r>
          </a:p>
          <a:p>
            <a:pPr marL="285750" indent="-285750" fontAlgn="base">
              <a:buFont typeface="Arial" panose="020B0604020202020204" pitchFamily="34" charset="0"/>
              <a:buChar char="•"/>
            </a:pPr>
            <a:endParaRPr lang="en-IN" b="1" dirty="0"/>
          </a:p>
          <a:p>
            <a:pPr marL="285750" indent="-285750" fontAlgn="base">
              <a:buFont typeface="Arial" panose="020B0604020202020204" pitchFamily="34" charset="0"/>
              <a:buChar char="•"/>
            </a:pPr>
            <a:r>
              <a:rPr lang="en-IN" b="1" dirty="0"/>
              <a:t>Enable Multimodal Brainstorming: </a:t>
            </a:r>
            <a:r>
              <a:rPr lang="en-IN" dirty="0"/>
              <a:t>Accept inputs like text prompts, images (e.g., product sketches), or voice notes and refine them into structured, creative suggestions.</a:t>
            </a:r>
          </a:p>
          <a:p>
            <a:pPr marL="285750" indent="-285750" fontAlgn="base">
              <a:buFont typeface="Arial" panose="020B0604020202020204" pitchFamily="34" charset="0"/>
              <a:buChar char="•"/>
            </a:pPr>
            <a:endParaRPr lang="en-IN" b="1" dirty="0"/>
          </a:p>
          <a:p>
            <a:pPr marL="285750" indent="-285750" fontAlgn="base">
              <a:buFont typeface="Arial" panose="020B0604020202020204" pitchFamily="34" charset="0"/>
              <a:buChar char="•"/>
            </a:pPr>
            <a:r>
              <a:rPr lang="en-IN" b="1" dirty="0"/>
              <a:t>Create a Predictive &amp; Agentic Layer: </a:t>
            </a:r>
            <a:r>
              <a:rPr lang="en-IN" dirty="0"/>
              <a:t>Identify trending domains (e.g., AI in healthcare, sustainable energy), forecast idea relevance, and recommend high-impact directions.</a:t>
            </a:r>
          </a:p>
          <a:p>
            <a:pPr marL="285750" indent="-285750" fontAlgn="base">
              <a:buFont typeface="Arial" panose="020B0604020202020204" pitchFamily="34" charset="0"/>
              <a:buChar char="•"/>
            </a:pPr>
            <a:endParaRPr lang="en-IN" b="1" dirty="0"/>
          </a:p>
          <a:p>
            <a:pPr marL="285750" indent="-285750" fontAlgn="base">
              <a:buFont typeface="Arial" panose="020B0604020202020204" pitchFamily="34" charset="0"/>
              <a:buChar char="•"/>
            </a:pPr>
            <a:r>
              <a:rPr lang="en-IN" b="1" dirty="0"/>
              <a:t>Visualize Idea Maps: </a:t>
            </a:r>
            <a:r>
              <a:rPr lang="en-IN" dirty="0"/>
              <a:t>Provide an interactive dashboard that organizes ideas into categories, impact scores, and feasibility maps, helping users explore and refine concepts quickly.</a:t>
            </a:r>
            <a:endParaRPr lang="en-US" dirty="0"/>
          </a:p>
          <a:p>
            <a:pPr fontAlgn="base"/>
            <a:r>
              <a:rPr lang="en-US" dirty="0"/>
              <a:t>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47536"/>
          </a:xfrm>
          <a:prstGeom prst="rect">
            <a:avLst/>
          </a:prstGeom>
          <a:noFill/>
        </p:spPr>
        <p:txBody>
          <a:bodyPr wrap="square" rtlCol="0">
            <a:spAutoFit/>
          </a:bodyPr>
          <a:lstStyle/>
          <a:p>
            <a:pPr fontAlgn="base"/>
            <a:endParaRPr lang="en-US" b="1" dirty="0"/>
          </a:p>
          <a:p>
            <a:r>
              <a:rPr lang="en-IN" b="1" dirty="0"/>
              <a:t>Proposed Solution: Smart Business Idea Generator Agent</a:t>
            </a:r>
          </a:p>
          <a:p>
            <a:r>
              <a:rPr lang="en-IN" dirty="0"/>
              <a:t>The proposed solution is a </a:t>
            </a:r>
            <a:r>
              <a:rPr lang="en-IN" b="1" dirty="0"/>
              <a:t>multi-agent AI-powered Business Idea Generator Agent</a:t>
            </a:r>
            <a:r>
              <a:rPr lang="en-IN" dirty="0"/>
              <a:t> built using </a:t>
            </a:r>
            <a:r>
              <a:rPr lang="en-IN" b="1" dirty="0" err="1"/>
              <a:t>LangFlow</a:t>
            </a:r>
            <a:r>
              <a:rPr lang="en-IN" b="1" dirty="0"/>
              <a:t>, IBM watsonx.ai, and Granite Models</a:t>
            </a:r>
            <a:r>
              <a:rPr lang="en-IN" dirty="0"/>
              <a:t> to provide personalized, real-time business planning and validation guidance. The system addresses challenges in market mapping, risk mitigation, and financial </a:t>
            </a:r>
            <a:r>
              <a:rPr lang="en-IN" dirty="0" err="1"/>
              <a:t>modeling</a:t>
            </a:r>
            <a:r>
              <a:rPr lang="en-IN" dirty="0"/>
              <a:t> through an intelligent, modular architecture.</a:t>
            </a:r>
          </a:p>
          <a:p>
            <a:r>
              <a:rPr lang="en-IN" dirty="0"/>
              <a:t>At its core, the solution uses a </a:t>
            </a:r>
            <a:r>
              <a:rPr lang="en-IN" b="1" dirty="0"/>
              <a:t>Retrieval-Augmented Generation (RAG)</a:t>
            </a:r>
            <a:r>
              <a:rPr lang="en-IN" dirty="0"/>
              <a:t> pipeline to fetch accurate market data from trusted sources such as Crunchbase, Google Trends, and regional patent databases. This data is embedded and stored in a vector database, enabling the system to retrieve and summarize business-critical parameters (competitive volume, monetization models, target demographics) using Granite models.</a:t>
            </a:r>
          </a:p>
          <a:p>
            <a:r>
              <a:rPr lang="en-IN" dirty="0"/>
              <a:t>The system consists of four key agents:</a:t>
            </a:r>
          </a:p>
          <a:p>
            <a:r>
              <a:rPr lang="en-IN" b="1" dirty="0"/>
              <a:t>Market Trend &amp; Scouting Agent</a:t>
            </a:r>
            <a:r>
              <a:rPr lang="en-IN" dirty="0"/>
              <a:t> retrieves and  </a:t>
            </a:r>
            <a:r>
              <a:rPr lang="en-IN" dirty="0" err="1"/>
              <a:t>analyzes</a:t>
            </a:r>
            <a:r>
              <a:rPr lang="en-IN" dirty="0"/>
              <a:t> live consumer shifts and industry gaps using dynamic RAG  queries. </a:t>
            </a:r>
            <a:r>
              <a:rPr lang="en-IN" b="1" dirty="0"/>
              <a:t>Viability &amp; Risk Assessment Agent</a:t>
            </a:r>
            <a:r>
              <a:rPr lang="en-IN" dirty="0"/>
              <a:t> determines geographical fit, regulatory barriers to entry, setup capital requirements, and regional risk metrics. </a:t>
            </a:r>
            <a:r>
              <a:rPr lang="en-IN" b="1" dirty="0"/>
              <a:t>Business </a:t>
            </a:r>
            <a:r>
              <a:rPr lang="en-IN" b="1" dirty="0" err="1"/>
              <a:t>Modeling</a:t>
            </a:r>
            <a:r>
              <a:rPr lang="en-IN" b="1" dirty="0"/>
              <a:t> Agent</a:t>
            </a:r>
            <a:r>
              <a:rPr lang="en-IN" dirty="0"/>
              <a:t> generates complete startup structures, value proposition canvases, and unit economics  templates. </a:t>
            </a:r>
            <a:r>
              <a:rPr lang="en-IN" b="1" dirty="0"/>
              <a:t>Feedback &amp; Pivot Agent</a:t>
            </a:r>
            <a:r>
              <a:rPr lang="en-IN" dirty="0"/>
              <a:t> enables users to input initial concepts via text or pitch files, generating instant market stress-testing and strategic recommendations.</a:t>
            </a:r>
          </a:p>
          <a:p>
            <a:r>
              <a:rPr lang="en-IN" dirty="0"/>
              <a:t>The solution includes a </a:t>
            </a:r>
            <a:r>
              <a:rPr lang="en-IN" b="1" dirty="0"/>
              <a:t>user-friendly dashboard</a:t>
            </a:r>
            <a:r>
              <a:rPr lang="en-IN" dirty="0"/>
              <a:t> (built with </a:t>
            </a:r>
            <a:r>
              <a:rPr lang="en-IN" dirty="0" err="1"/>
              <a:t>Streamlit</a:t>
            </a:r>
            <a:r>
              <a:rPr lang="en-IN" dirty="0"/>
              <a:t> or React) that visualizes current market demand, highlights competitor density, presents revenue models, and monitors validation metrics.</a:t>
            </a:r>
          </a:p>
          <a:p>
            <a:r>
              <a:rPr lang="en-IN" b="1" dirty="0" err="1"/>
              <a:t>LangFlow</a:t>
            </a:r>
            <a:r>
              <a:rPr lang="en-IN" dirty="0"/>
              <a:t> is used to orchestrate agent workflows, while </a:t>
            </a:r>
            <a:r>
              <a:rPr lang="en-IN" b="1" dirty="0"/>
              <a:t>watsonx.ai</a:t>
            </a:r>
            <a:r>
              <a:rPr lang="en-IN" dirty="0"/>
              <a:t> ensures scalable model deployment, robust embeddings, and strict AI governance. </a:t>
            </a:r>
            <a:r>
              <a:rPr lang="en-IN" b="1" dirty="0"/>
              <a:t>Granite models</a:t>
            </a:r>
            <a:r>
              <a:rPr lang="en-IN" dirty="0"/>
              <a:t> power high-level reasoning, logical summarization, and business model personalization.</a:t>
            </a:r>
          </a:p>
          <a:p>
            <a:r>
              <a:rPr lang="en-IN" dirty="0"/>
              <a:t>Overall, this solution delivers an </a:t>
            </a:r>
            <a:r>
              <a:rPr lang="en-IN" b="1" dirty="0"/>
              <a:t>end-to-end intelligent business ideation partner</a:t>
            </a:r>
            <a:r>
              <a:rPr lang="en-IN" dirty="0"/>
              <a:t> that accelerates startup creation through highly contextual analysis, quantitative data validation, and strategic pivoting strategies.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955203"/>
          </a:xfrm>
          <a:prstGeom prst="rect">
            <a:avLst/>
          </a:prstGeom>
          <a:noFill/>
        </p:spPr>
        <p:txBody>
          <a:bodyPr wrap="square" lIns="91440" tIns="45720" rIns="91440" bIns="45720" rtlCol="0" anchor="t">
            <a:spAutoFit/>
          </a:bodyPr>
          <a:lstStyle/>
          <a:p>
            <a:pPr marL="0" marR="0" indent="0" algn="l">
              <a:buFont typeface="Arial" panose="020B0604020202020204" pitchFamily="34" charset="0"/>
              <a:buChar char="•"/>
            </a:pPr>
            <a:r>
              <a:rPr lang="en-IN" sz="1800" b="1" i="0" dirty="0">
                <a:solidFill>
                  <a:srgbClr val="000000"/>
                </a:solidFill>
                <a:effectLst/>
                <a:latin typeface="Inter"/>
              </a:rPr>
              <a:t> </a:t>
            </a:r>
            <a:r>
              <a:rPr lang="en-IN" sz="1800" b="1" i="0" dirty="0" err="1">
                <a:solidFill>
                  <a:srgbClr val="000000"/>
                </a:solidFill>
                <a:effectLst/>
                <a:latin typeface="Inter"/>
              </a:rPr>
              <a:t>Langflow</a:t>
            </a:r>
            <a:r>
              <a:rPr lang="en-IN" sz="1800" b="1" i="0" dirty="0">
                <a:solidFill>
                  <a:srgbClr val="000000"/>
                </a:solidFill>
                <a:effectLst/>
                <a:latin typeface="Inter"/>
              </a:rPr>
              <a:t> platform</a:t>
            </a:r>
            <a:r>
              <a:rPr lang="en-IN" sz="1800" b="0" i="0" dirty="0">
                <a:solidFill>
                  <a:srgbClr val="000000"/>
                </a:solidFill>
                <a:effectLst/>
                <a:latin typeface="Inter"/>
              </a:rPr>
              <a:t> - For designing and orchestrating multi-agent workflows visually</a:t>
            </a:r>
          </a:p>
          <a:p>
            <a:pPr marL="0" marR="0" indent="0" algn="l">
              <a:buFont typeface="Arial" panose="020B0604020202020204" pitchFamily="34" charset="0"/>
              <a:buChar char="•"/>
            </a:pPr>
            <a:endParaRPr lang="en-IN" sz="1800" b="1" i="0" dirty="0">
              <a:solidFill>
                <a:srgbClr val="000000"/>
              </a:solidFill>
              <a:effectLst/>
              <a:latin typeface="Inter"/>
            </a:endParaRPr>
          </a:p>
          <a:p>
            <a:pPr marL="0" marR="0" indent="0" algn="l">
              <a:buFont typeface="Arial" panose="020B0604020202020204" pitchFamily="34" charset="0"/>
              <a:buChar char="•"/>
            </a:pPr>
            <a:r>
              <a:rPr lang="en-IN" sz="1800" b="1" i="0" dirty="0">
                <a:solidFill>
                  <a:srgbClr val="000000"/>
                </a:solidFill>
                <a:effectLst/>
                <a:latin typeface="Inter"/>
              </a:rPr>
              <a:t> IBM Granite model</a:t>
            </a:r>
            <a:r>
              <a:rPr lang="en-IN" sz="1800" b="0" i="0" dirty="0">
                <a:solidFill>
                  <a:srgbClr val="000000"/>
                </a:solidFill>
                <a:effectLst/>
                <a:latin typeface="Inter"/>
              </a:rPr>
              <a:t> - for </a:t>
            </a:r>
            <a:r>
              <a:rPr lang="en-IN" sz="1800" b="0" i="0" dirty="0" err="1">
                <a:solidFill>
                  <a:srgbClr val="000000"/>
                </a:solidFill>
                <a:effectLst/>
                <a:latin typeface="Inter"/>
              </a:rPr>
              <a:t>eg</a:t>
            </a:r>
            <a:r>
              <a:rPr lang="en-IN" sz="1800" b="0" i="0" dirty="0">
                <a:solidFill>
                  <a:srgbClr val="000000"/>
                </a:solidFill>
                <a:effectLst/>
                <a:latin typeface="Inter"/>
              </a:rPr>
              <a:t> – ibm-granite-3-2-8b – For natural language understanding, reasoning, and personalization</a:t>
            </a:r>
          </a:p>
          <a:p>
            <a:pPr marL="0" marR="0" indent="0" algn="l">
              <a:buFont typeface="Arial" panose="020B0604020202020204" pitchFamily="34" charset="0"/>
              <a:buChar char="•"/>
            </a:pPr>
            <a:endParaRPr lang="en-IN" sz="1800" b="1" i="0" dirty="0">
              <a:solidFill>
                <a:srgbClr val="000000"/>
              </a:solidFill>
              <a:effectLst/>
              <a:latin typeface="Inter"/>
            </a:endParaRPr>
          </a:p>
          <a:p>
            <a:pPr marL="0" marR="0" indent="0" algn="l">
              <a:buFont typeface="Arial" panose="020B0604020202020204" pitchFamily="34" charset="0"/>
              <a:buChar char="•"/>
            </a:pPr>
            <a:r>
              <a:rPr lang="en-IN" sz="1800" b="1" i="0" dirty="0">
                <a:solidFill>
                  <a:srgbClr val="000000"/>
                </a:solidFill>
                <a:effectLst/>
                <a:latin typeface="Inter"/>
              </a:rPr>
              <a:t> IBM Cloud</a:t>
            </a:r>
            <a:r>
              <a:rPr lang="en-IN" sz="1800" b="0" i="0" dirty="0">
                <a:solidFill>
                  <a:srgbClr val="000000"/>
                </a:solidFill>
                <a:effectLst/>
                <a:latin typeface="Inter"/>
              </a:rPr>
              <a:t> – It provides the infrastructure to build, deploy, and scale the Business Idea Generator Agent efficiently. IBM Cloud enables a </a:t>
            </a:r>
            <a:r>
              <a:rPr lang="en-IN" sz="1800" b="1" i="0" dirty="0">
                <a:solidFill>
                  <a:srgbClr val="000000"/>
                </a:solidFill>
                <a:effectLst/>
                <a:latin typeface="Inter"/>
              </a:rPr>
              <a:t>reliable, secure, and scalable environment</a:t>
            </a:r>
            <a:r>
              <a:rPr lang="en-IN" sz="1800" b="0" i="0" dirty="0">
                <a:solidFill>
                  <a:srgbClr val="000000"/>
                </a:solidFill>
                <a:effectLst/>
                <a:latin typeface="Inter"/>
              </a:rPr>
              <a:t> for deploying the Business Idea Generator Agent.</a:t>
            </a:r>
          </a:p>
          <a:p>
            <a:pPr marL="0" marR="0" indent="0" algn="l">
              <a:buFont typeface="Arial" panose="020B0604020202020204" pitchFamily="34" charset="0"/>
              <a:buChar char="•"/>
            </a:pPr>
            <a:endParaRPr lang="en-IN" sz="1800" b="1" i="0" dirty="0">
              <a:solidFill>
                <a:srgbClr val="000000"/>
              </a:solidFill>
              <a:effectLst/>
              <a:latin typeface="Inter"/>
            </a:endParaRPr>
          </a:p>
          <a:p>
            <a:pPr marL="0" marR="0" indent="0" algn="l">
              <a:buFont typeface="Arial" panose="020B0604020202020204" pitchFamily="34" charset="0"/>
              <a:buChar char="•"/>
            </a:pPr>
            <a:r>
              <a:rPr lang="en-IN" sz="1800" b="1" i="0" dirty="0">
                <a:solidFill>
                  <a:srgbClr val="000000"/>
                </a:solidFill>
                <a:effectLst/>
                <a:latin typeface="Inter"/>
              </a:rPr>
              <a:t> RAG</a:t>
            </a:r>
            <a:r>
              <a:rPr lang="en-IN" sz="1800" b="0" i="0" dirty="0">
                <a:solidFill>
                  <a:srgbClr val="000000"/>
                </a:solidFill>
                <a:effectLst/>
                <a:latin typeface="Inter"/>
              </a:rPr>
              <a:t> – RAG to </a:t>
            </a:r>
            <a:r>
              <a:rPr lang="en-IN" sz="1800" b="1" i="0" dirty="0">
                <a:solidFill>
                  <a:srgbClr val="000000"/>
                </a:solidFill>
                <a:effectLst/>
                <a:latin typeface="Inter"/>
              </a:rPr>
              <a:t>fetch real data first, then generate intelligent answers</a:t>
            </a:r>
            <a:r>
              <a:rPr lang="en-IN" sz="1800" b="0" i="0" dirty="0">
                <a:solidFill>
                  <a:srgbClr val="000000"/>
                </a:solidFill>
                <a:effectLst/>
                <a:latin typeface="Inter"/>
              </a:rPr>
              <a:t>, making the Business Idea Generator Agent more trustworthy and effective.</a:t>
            </a:r>
          </a:p>
          <a:p>
            <a:pPr marL="0" marR="0" indent="0" algn="l"/>
            <a:endParaRPr lang="en-IN" sz="1800" b="1" i="0" dirty="0">
              <a:solidFill>
                <a:srgbClr val="000000"/>
              </a:solidFill>
              <a:effectLst/>
              <a:latin typeface="Inter"/>
            </a:endParaRPr>
          </a:p>
          <a:p>
            <a:pPr marL="0" marR="0" indent="0" algn="l">
              <a:buFont typeface="Arial" panose="020B0604020202020204" pitchFamily="34" charset="0"/>
              <a:buChar char="•"/>
            </a:pPr>
            <a:r>
              <a:rPr lang="en-IN" sz="1800" b="1" i="0" dirty="0">
                <a:solidFill>
                  <a:srgbClr val="000000"/>
                </a:solidFill>
                <a:effectLst/>
                <a:latin typeface="Inter"/>
              </a:rPr>
              <a:t>IBM Watsonx.ai</a:t>
            </a:r>
            <a:r>
              <a:rPr lang="en-IN" sz="1800" b="0" i="0" dirty="0">
                <a:solidFill>
                  <a:srgbClr val="000000"/>
                </a:solidFill>
                <a:effectLst/>
                <a:latin typeface="Inter"/>
              </a:rPr>
              <a:t> - For model deployment, embeddings, and AI governance</a:t>
            </a:r>
          </a:p>
          <a:p>
            <a:pPr marL="0" marR="0" indent="0" algn="l">
              <a:buFont typeface="Arial" panose="020B0604020202020204" pitchFamily="34" charset="0"/>
              <a:buChar char="•"/>
            </a:pPr>
            <a:endParaRPr lang="en-IN" sz="1800" b="1" i="0" dirty="0">
              <a:solidFill>
                <a:srgbClr val="000000"/>
              </a:solidFill>
              <a:effectLst/>
              <a:latin typeface="Inter"/>
            </a:endParaRPr>
          </a:p>
          <a:p>
            <a:pPr marL="0" marR="0" indent="0" algn="l">
              <a:buFont typeface="Arial" panose="020B0604020202020204" pitchFamily="34" charset="0"/>
              <a:buChar char="•"/>
            </a:pPr>
            <a:r>
              <a:rPr lang="en-IN" sz="1800" b="1" i="0" dirty="0">
                <a:solidFill>
                  <a:srgbClr val="000000"/>
                </a:solidFill>
                <a:effectLst/>
                <a:latin typeface="Inter"/>
              </a:rPr>
              <a:t>Vector Database</a:t>
            </a:r>
            <a:r>
              <a:rPr lang="en-IN" sz="1800" b="0" i="0" dirty="0">
                <a:solidFill>
                  <a:srgbClr val="000000"/>
                </a:solidFill>
                <a:effectLst/>
                <a:latin typeface="Inter"/>
              </a:rPr>
              <a:t> (FAISS/Chroma) – For RAG-based business, patent, and trend data retrieval</a:t>
            </a:r>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7663636"/>
          </a:xfrm>
          <a:prstGeom prst="rect">
            <a:avLst/>
          </a:prstGeom>
          <a:noFill/>
        </p:spPr>
        <p:txBody>
          <a:bodyPr wrap="square" rtlCol="0">
            <a:spAutoFit/>
          </a:bodyPr>
          <a:lstStyle/>
          <a:p>
            <a:r>
              <a:rPr lang="en-IN" sz="2000" b="1" dirty="0"/>
              <a:t>1) Chat Input</a:t>
            </a:r>
            <a:r>
              <a:rPr lang="en-IN" sz="2000" dirty="0"/>
              <a:t> – Interface where users enter their business queries, sector preferences, or startup ideas (text/voice/image).</a:t>
            </a:r>
          </a:p>
          <a:p>
            <a:endParaRPr lang="en-IN" sz="2000" b="1" dirty="0"/>
          </a:p>
          <a:p>
            <a:r>
              <a:rPr lang="en-IN" sz="2000" b="1" dirty="0"/>
              <a:t>2) IBM </a:t>
            </a:r>
            <a:r>
              <a:rPr lang="en-IN" sz="2000" b="1" dirty="0" err="1"/>
              <a:t>watsonx</a:t>
            </a:r>
            <a:r>
              <a:rPr lang="en-IN" sz="2000" b="1" dirty="0"/>
              <a:t> AI Agent</a:t>
            </a:r>
            <a:r>
              <a:rPr lang="en-IN" sz="2000" dirty="0"/>
              <a:t> - Processes user inputs using Granite models to generate personalized startup viability, model summaries, and strategy paths.</a:t>
            </a:r>
          </a:p>
          <a:p>
            <a:endParaRPr lang="en-IN" sz="2000" b="1" dirty="0"/>
          </a:p>
          <a:p>
            <a:r>
              <a:rPr lang="en-IN" sz="2000" b="1" dirty="0"/>
              <a:t>3) Name of IBM Granite model</a:t>
            </a:r>
            <a:r>
              <a:rPr lang="en-IN" sz="2000" dirty="0"/>
              <a:t> - ibm-granite-3-2-8b → Fast, efficient for real-time market analysis and business plan synthesis.</a:t>
            </a:r>
          </a:p>
          <a:p>
            <a:endParaRPr lang="en-IN" sz="2000" b="1" dirty="0"/>
          </a:p>
          <a:p>
            <a:r>
              <a:rPr lang="en-IN" sz="2000" b="1" dirty="0"/>
              <a:t>4) Chat output</a:t>
            </a:r>
            <a:r>
              <a:rPr lang="en-IN" sz="2000" dirty="0"/>
              <a:t> - Displays AI-generated responses such as value propositions, structured canvases, and pivot feedback.</a:t>
            </a:r>
          </a:p>
          <a:p>
            <a:endParaRPr lang="en-IN" sz="2000" b="1" dirty="0"/>
          </a:p>
          <a:p>
            <a:r>
              <a:rPr lang="en-IN" sz="2000" b="1" dirty="0"/>
              <a:t>5) File component</a:t>
            </a:r>
            <a:r>
              <a:rPr lang="en-IN" sz="2000" dirty="0"/>
              <a:t> - Stores and retrieves user data, startup concepts, and custom market research datasets for business analysis.</a:t>
            </a:r>
          </a:p>
          <a:p>
            <a:endParaRPr lang="en-IN" sz="2000" b="1" dirty="0"/>
          </a:p>
          <a:p>
            <a:r>
              <a:rPr lang="en-IN" sz="2000" b="1" dirty="0"/>
              <a:t>6) Custom Database Integration / API tool</a:t>
            </a:r>
            <a:r>
              <a:rPr lang="en-IN" sz="2000" dirty="0"/>
              <a:t> - Connects real-time queries to external trend scrapers and company databases for integrated RAG tracking.</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p>
        </p:txBody>
      </p:sp>
      <p:pic>
        <p:nvPicPr>
          <p:cNvPr id="5" name="Picture 4">
            <a:extLst>
              <a:ext uri="{FF2B5EF4-FFF2-40B4-BE49-F238E27FC236}">
                <a16:creationId xmlns:a16="http://schemas.microsoft.com/office/drawing/2014/main" id="{8272D714-1213-B293-608A-01014366CAD8}"/>
              </a:ext>
            </a:extLst>
          </p:cNvPr>
          <p:cNvPicPr>
            <a:picLocks noChangeAspect="1"/>
          </p:cNvPicPr>
          <p:nvPr/>
        </p:nvPicPr>
        <p:blipFill>
          <a:blip r:embed="rId3"/>
          <a:stretch>
            <a:fillRect/>
          </a:stretch>
        </p:blipFill>
        <p:spPr>
          <a:xfrm>
            <a:off x="453541" y="874157"/>
            <a:ext cx="10919155" cy="585016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5" name="Picture 4">
            <a:extLst>
              <a:ext uri="{FF2B5EF4-FFF2-40B4-BE49-F238E27FC236}">
                <a16:creationId xmlns:a16="http://schemas.microsoft.com/office/drawing/2014/main" id="{78F566C9-B848-7CA2-F183-E764E8900ED5}"/>
              </a:ext>
            </a:extLst>
          </p:cNvPr>
          <p:cNvPicPr>
            <a:picLocks noChangeAspect="1"/>
          </p:cNvPicPr>
          <p:nvPr/>
        </p:nvPicPr>
        <p:blipFill>
          <a:blip r:embed="rId3"/>
          <a:stretch>
            <a:fillRect/>
          </a:stretch>
        </p:blipFill>
        <p:spPr>
          <a:xfrm>
            <a:off x="0" y="41353"/>
            <a:ext cx="12192000" cy="67752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85887-E2C7-F9F4-DB8D-1F376B02F193}"/>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F11FE806-E125-B291-2781-009FDC31B33B}"/>
              </a:ext>
            </a:extLst>
          </p:cNvPr>
          <p:cNvPicPr>
            <a:picLocks noChangeAspect="1"/>
          </p:cNvPicPr>
          <p:nvPr/>
        </p:nvPicPr>
        <p:blipFill>
          <a:blip r:embed="rId2"/>
          <a:stretch>
            <a:fillRect/>
          </a:stretch>
        </p:blipFill>
        <p:spPr>
          <a:xfrm>
            <a:off x="6800850" y="1481137"/>
            <a:ext cx="4629150" cy="4572000"/>
          </a:xfrm>
          <a:prstGeom prst="rect">
            <a:avLst/>
          </a:prstGeom>
        </p:spPr>
      </p:pic>
      <p:sp>
        <p:nvSpPr>
          <p:cNvPr id="3" name="TextBox 2">
            <a:extLst>
              <a:ext uri="{FF2B5EF4-FFF2-40B4-BE49-F238E27FC236}">
                <a16:creationId xmlns:a16="http://schemas.microsoft.com/office/drawing/2014/main" id="{98CB1385-EC97-CD85-1BA8-C4EFAA5C229C}"/>
              </a:ext>
            </a:extLst>
          </p:cNvPr>
          <p:cNvSpPr txBox="1"/>
          <p:nvPr/>
        </p:nvSpPr>
        <p:spPr>
          <a:xfrm>
            <a:off x="762000" y="571500"/>
            <a:ext cx="11201400" cy="438150"/>
          </a:xfrm>
          <a:prstGeom prst="rect">
            <a:avLst/>
          </a:prstGeom>
          <a:noFill/>
        </p:spPr>
        <p:txBody>
          <a:bodyPr wrap="square" lIns="0" tIns="0" rIns="0" bIns="0" anchor="t">
            <a:spAutoFit/>
          </a:bodyPr>
          <a:lstStyle/>
          <a:p>
            <a:pPr algn="l"/>
            <a:r>
              <a:rPr sz="2850" b="1" i="0" u="none">
                <a:solidFill>
                  <a:srgbClr val="000000"/>
                </a:solidFill>
                <a:latin typeface="Inter"/>
              </a:rPr>
              <a:t>Role of Agentic AI in the solution</a:t>
            </a:r>
          </a:p>
        </p:txBody>
      </p:sp>
      <p:sp>
        <p:nvSpPr>
          <p:cNvPr id="4" name="TextBox 3">
            <a:extLst>
              <a:ext uri="{FF2B5EF4-FFF2-40B4-BE49-F238E27FC236}">
                <a16:creationId xmlns:a16="http://schemas.microsoft.com/office/drawing/2014/main" id="{672811B6-6401-9398-BD4D-BFC84C7B1372}"/>
              </a:ext>
            </a:extLst>
          </p:cNvPr>
          <p:cNvSpPr txBox="1"/>
          <p:nvPr/>
        </p:nvSpPr>
        <p:spPr>
          <a:xfrm>
            <a:off x="762000" y="1628030"/>
            <a:ext cx="5940742" cy="220860"/>
          </a:xfrm>
          <a:prstGeom prst="rect">
            <a:avLst/>
          </a:prstGeom>
          <a:noFill/>
        </p:spPr>
        <p:txBody>
          <a:bodyPr wrap="square" lIns="0" tIns="0" rIns="0" bIns="0" anchor="t">
            <a:spAutoFit/>
          </a:bodyPr>
          <a:lstStyle/>
          <a:p>
            <a:pPr algn="l">
              <a:lnSpc>
                <a:spcPts val="1739"/>
              </a:lnSpc>
            </a:pPr>
            <a:r>
              <a:rPr sz="1200" b="1" i="0" u="none">
                <a:solidFill>
                  <a:srgbClr val="000000"/>
                </a:solidFill>
                <a:latin typeface="Inter"/>
              </a:rPr>
              <a:t>Role of Agentic AI in Business Idea Generator Agent</a:t>
            </a:r>
          </a:p>
        </p:txBody>
      </p:sp>
      <p:sp>
        <p:nvSpPr>
          <p:cNvPr id="5" name="TextBox 4">
            <a:extLst>
              <a:ext uri="{FF2B5EF4-FFF2-40B4-BE49-F238E27FC236}">
                <a16:creationId xmlns:a16="http://schemas.microsoft.com/office/drawing/2014/main" id="{56DE816E-4E1C-0AFD-357F-72DAD6D4450E}"/>
              </a:ext>
            </a:extLst>
          </p:cNvPr>
          <p:cNvSpPr txBox="1"/>
          <p:nvPr/>
        </p:nvSpPr>
        <p:spPr>
          <a:xfrm>
            <a:off x="762000" y="1925091"/>
            <a:ext cx="5657850" cy="856059"/>
          </a:xfrm>
          <a:prstGeom prst="rect">
            <a:avLst/>
          </a:prstGeom>
          <a:noFill/>
        </p:spPr>
        <p:txBody>
          <a:bodyPr wrap="square" lIns="0" tIns="0" rIns="0" bIns="0" anchor="t">
            <a:spAutoFit/>
          </a:bodyPr>
          <a:lstStyle/>
          <a:p>
            <a:pPr algn="l">
              <a:lnSpc>
                <a:spcPts val="1685"/>
              </a:lnSpc>
            </a:pPr>
            <a:r>
              <a:rPr sz="1162" b="1" i="0" u="none" dirty="0">
                <a:solidFill>
                  <a:srgbClr val="000000"/>
                </a:solidFill>
                <a:latin typeface="Inter"/>
              </a:rPr>
              <a:t>Agentic AI</a:t>
            </a:r>
            <a:r>
              <a:rPr sz="1162" b="0" i="0" u="none" dirty="0">
                <a:solidFill>
                  <a:srgbClr val="1A202C"/>
                </a:solidFill>
                <a:latin typeface="Inter"/>
              </a:rPr>
              <a:t> enables the Business Idea Generator Agent to function as an intelligent, autonomous system rather than a simple chatbot. Using </a:t>
            </a:r>
            <a:r>
              <a:rPr sz="1162" b="1" i="0" u="none" dirty="0">
                <a:solidFill>
                  <a:srgbClr val="000000"/>
                </a:solidFill>
                <a:latin typeface="Inter"/>
              </a:rPr>
              <a:t>IBM watsonx.ai</a:t>
            </a:r>
            <a:r>
              <a:rPr sz="1162" b="0" i="0" u="none" dirty="0">
                <a:solidFill>
                  <a:srgbClr val="1A202C"/>
                </a:solidFill>
                <a:latin typeface="Inter"/>
              </a:rPr>
              <a:t> and </a:t>
            </a:r>
            <a:r>
              <a:rPr sz="1162" b="1" i="0" u="none" dirty="0">
                <a:solidFill>
                  <a:srgbClr val="000000"/>
                </a:solidFill>
                <a:latin typeface="Inter"/>
              </a:rPr>
              <a:t>IBM Granite models</a:t>
            </a:r>
            <a:r>
              <a:rPr sz="1162" b="0" i="0" u="none" dirty="0">
                <a:solidFill>
                  <a:srgbClr val="1A202C"/>
                </a:solidFill>
                <a:latin typeface="Inter"/>
              </a:rPr>
              <a:t>, it coordinates multiple specialized agents to deliver personalized entrepreneurial guidance.</a:t>
            </a:r>
          </a:p>
        </p:txBody>
      </p:sp>
      <p:sp>
        <p:nvSpPr>
          <p:cNvPr id="6" name="TextBox 5">
            <a:extLst>
              <a:ext uri="{FF2B5EF4-FFF2-40B4-BE49-F238E27FC236}">
                <a16:creationId xmlns:a16="http://schemas.microsoft.com/office/drawing/2014/main" id="{1B0936E8-023A-F928-9177-6BF5760F3260}"/>
              </a:ext>
            </a:extLst>
          </p:cNvPr>
          <p:cNvSpPr txBox="1"/>
          <p:nvPr/>
        </p:nvSpPr>
        <p:spPr>
          <a:xfrm>
            <a:off x="762000" y="2895451"/>
            <a:ext cx="5657850" cy="856059"/>
          </a:xfrm>
          <a:prstGeom prst="rect">
            <a:avLst/>
          </a:prstGeom>
          <a:noFill/>
        </p:spPr>
        <p:txBody>
          <a:bodyPr wrap="square" lIns="0" tIns="0" rIns="0" bIns="0" anchor="t">
            <a:spAutoFit/>
          </a:bodyPr>
          <a:lstStyle/>
          <a:p>
            <a:pPr algn="l">
              <a:lnSpc>
                <a:spcPts val="1685"/>
              </a:lnSpc>
            </a:pPr>
            <a:r>
              <a:rPr sz="1162" b="0" i="0" u="none" dirty="0">
                <a:solidFill>
                  <a:srgbClr val="1A202C"/>
                </a:solidFill>
                <a:latin typeface="Inter"/>
              </a:rPr>
              <a:t>Each agent performs a specific role—such as retrieving market trends, scoring risk assessments, detailing business canvases, and evaluating pivot feedback—while working collaboratively. This </a:t>
            </a:r>
            <a:r>
              <a:rPr sz="1162" b="1" i="0" u="none" dirty="0">
                <a:solidFill>
                  <a:srgbClr val="000000"/>
                </a:solidFill>
                <a:latin typeface="Inter"/>
              </a:rPr>
              <a:t>multi-agent approach</a:t>
            </a:r>
            <a:r>
              <a:rPr sz="1162" b="0" i="0" u="none" dirty="0">
                <a:solidFill>
                  <a:srgbClr val="1A202C"/>
                </a:solidFill>
                <a:latin typeface="Inter"/>
              </a:rPr>
              <a:t> ensures efficient task execution and accurate results.</a:t>
            </a:r>
          </a:p>
        </p:txBody>
      </p:sp>
      <p:sp>
        <p:nvSpPr>
          <p:cNvPr id="7" name="TextBox 6">
            <a:extLst>
              <a:ext uri="{FF2B5EF4-FFF2-40B4-BE49-F238E27FC236}">
                <a16:creationId xmlns:a16="http://schemas.microsoft.com/office/drawing/2014/main" id="{971B8FA0-A20F-08D8-4340-BEFD34178304}"/>
              </a:ext>
            </a:extLst>
          </p:cNvPr>
          <p:cNvSpPr txBox="1"/>
          <p:nvPr/>
        </p:nvSpPr>
        <p:spPr>
          <a:xfrm>
            <a:off x="762000" y="3865810"/>
            <a:ext cx="5657850" cy="1284089"/>
          </a:xfrm>
          <a:prstGeom prst="rect">
            <a:avLst/>
          </a:prstGeom>
          <a:noFill/>
        </p:spPr>
        <p:txBody>
          <a:bodyPr wrap="square" lIns="0" tIns="0" rIns="0" bIns="0" anchor="t">
            <a:spAutoFit/>
          </a:bodyPr>
          <a:lstStyle/>
          <a:p>
            <a:pPr algn="l">
              <a:lnSpc>
                <a:spcPts val="1685"/>
              </a:lnSpc>
            </a:pPr>
            <a:r>
              <a:rPr sz="1162" b="0" i="0" u="none" dirty="0">
                <a:solidFill>
                  <a:srgbClr val="1A202C"/>
                </a:solidFill>
                <a:latin typeface="Inter"/>
              </a:rPr>
              <a:t>Agentic AI also brings </a:t>
            </a:r>
            <a:r>
              <a:rPr sz="1162" b="1" i="0" u="none" dirty="0">
                <a:solidFill>
                  <a:srgbClr val="000000"/>
                </a:solidFill>
                <a:latin typeface="Inter"/>
              </a:rPr>
              <a:t>context awareness</a:t>
            </a:r>
            <a:r>
              <a:rPr sz="1162" b="0" i="0" u="none" dirty="0">
                <a:solidFill>
                  <a:srgbClr val="1A202C"/>
                </a:solidFill>
                <a:latin typeface="Inter"/>
              </a:rPr>
              <a:t>, understanding user details like available capital, industrial experience, geographic target, and sector preferences to generate tailored recommendations. It supports </a:t>
            </a:r>
            <a:r>
              <a:rPr sz="1162" b="1" i="0" u="none" dirty="0">
                <a:solidFill>
                  <a:srgbClr val="000000"/>
                </a:solidFill>
                <a:latin typeface="Inter"/>
              </a:rPr>
              <a:t>real-time adaptation</a:t>
            </a:r>
            <a:r>
              <a:rPr sz="1162" b="0" i="0" u="none" dirty="0">
                <a:solidFill>
                  <a:srgbClr val="1A202C"/>
                </a:solidFill>
                <a:latin typeface="Inter"/>
              </a:rPr>
              <a:t>, continuously updating suggestions based on user inputs like market pivots. Additionally, agents communicate with each other, enabling better decision-making and improved outcomes.</a:t>
            </a:r>
          </a:p>
        </p:txBody>
      </p:sp>
      <p:sp>
        <p:nvSpPr>
          <p:cNvPr id="8" name="TextBox 7">
            <a:extLst>
              <a:ext uri="{FF2B5EF4-FFF2-40B4-BE49-F238E27FC236}">
                <a16:creationId xmlns:a16="http://schemas.microsoft.com/office/drawing/2014/main" id="{F68BE0F3-CFBC-9BB3-E6B0-3C0162EE0D67}"/>
              </a:ext>
            </a:extLst>
          </p:cNvPr>
          <p:cNvSpPr txBox="1"/>
          <p:nvPr/>
        </p:nvSpPr>
        <p:spPr>
          <a:xfrm>
            <a:off x="762000" y="5264199"/>
            <a:ext cx="5657850" cy="642044"/>
          </a:xfrm>
          <a:prstGeom prst="rect">
            <a:avLst/>
          </a:prstGeom>
          <a:noFill/>
        </p:spPr>
        <p:txBody>
          <a:bodyPr wrap="square" lIns="0" tIns="0" rIns="0" bIns="0" anchor="t">
            <a:spAutoFit/>
          </a:bodyPr>
          <a:lstStyle/>
          <a:p>
            <a:pPr algn="l">
              <a:lnSpc>
                <a:spcPts val="1685"/>
              </a:lnSpc>
            </a:pPr>
            <a:r>
              <a:rPr sz="1162" b="0" i="0" u="none">
                <a:solidFill>
                  <a:srgbClr val="1A202C"/>
                </a:solidFill>
                <a:latin typeface="Inter"/>
              </a:rPr>
              <a:t>Overall, Agentic AI makes the system proactive, personalized, and goal-driven, acting like a </a:t>
            </a:r>
            <a:r>
              <a:rPr sz="1162" b="1" i="0" u="none">
                <a:solidFill>
                  <a:srgbClr val="000000"/>
                </a:solidFill>
                <a:latin typeface="Inter"/>
              </a:rPr>
              <a:t>smart digital business consultant</a:t>
            </a:r>
            <a:r>
              <a:rPr sz="1162" b="0" i="0" u="none">
                <a:solidFill>
                  <a:srgbClr val="1A202C"/>
                </a:solidFill>
                <a:latin typeface="Inter"/>
              </a:rPr>
              <a:t> that helps users launch viable ventures.</a:t>
            </a:r>
          </a:p>
        </p:txBody>
      </p:sp>
      <p:pic>
        <p:nvPicPr>
          <p:cNvPr id="9" name="Picture 8" descr="image.png">
            <a:extLst>
              <a:ext uri="{FF2B5EF4-FFF2-40B4-BE49-F238E27FC236}">
                <a16:creationId xmlns:a16="http://schemas.microsoft.com/office/drawing/2014/main" id="{A4516935-8081-F0FB-5353-0D0CF9EC5920}"/>
              </a:ext>
            </a:extLst>
          </p:cNvPr>
          <p:cNvPicPr>
            <a:picLocks noChangeAspect="1"/>
          </p:cNvPicPr>
          <p:nvPr/>
        </p:nvPicPr>
        <p:blipFill>
          <a:blip r:embed="rId3"/>
          <a:stretch>
            <a:fillRect/>
          </a:stretch>
        </p:blipFill>
        <p:spPr>
          <a:xfrm>
            <a:off x="6810375" y="1490662"/>
            <a:ext cx="4610100" cy="4552950"/>
          </a:xfrm>
          <a:prstGeom prst="rect">
            <a:avLst/>
          </a:prstGeom>
        </p:spPr>
      </p:pic>
    </p:spTree>
    <p:extLst>
      <p:ext uri="{BB962C8B-B14F-4D97-AF65-F5344CB8AC3E}">
        <p14:creationId xmlns:p14="http://schemas.microsoft.com/office/powerpoint/2010/main" val="4242587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571500"/>
            <a:ext cx="11201400" cy="438150"/>
          </a:xfrm>
          <a:prstGeom prst="rect">
            <a:avLst/>
          </a:prstGeom>
          <a:noFill/>
        </p:spPr>
        <p:txBody>
          <a:bodyPr wrap="square" lIns="0" tIns="0" rIns="0" bIns="0" anchor="t">
            <a:spAutoFit/>
          </a:bodyPr>
          <a:lstStyle/>
          <a:p>
            <a:pPr algn="l"/>
            <a:r>
              <a:rPr sz="2850" b="1" i="0" u="none">
                <a:solidFill>
                  <a:srgbClr val="000000"/>
                </a:solidFill>
                <a:latin typeface="Inter"/>
              </a:rPr>
              <a:t>Novelty and Uniqueness</a:t>
            </a:r>
          </a:p>
        </p:txBody>
      </p:sp>
      <p:sp>
        <p:nvSpPr>
          <p:cNvPr id="3" name="TextBox 2"/>
          <p:cNvSpPr txBox="1"/>
          <p:nvPr/>
        </p:nvSpPr>
        <p:spPr>
          <a:xfrm>
            <a:off x="762000" y="1247775"/>
            <a:ext cx="10668000" cy="220860"/>
          </a:xfrm>
          <a:prstGeom prst="rect">
            <a:avLst/>
          </a:prstGeom>
          <a:noFill/>
        </p:spPr>
        <p:txBody>
          <a:bodyPr wrap="square" lIns="0" tIns="0" rIns="0" bIns="0" anchor="t">
            <a:spAutoFit/>
          </a:bodyPr>
          <a:lstStyle/>
          <a:p>
            <a:pPr algn="l">
              <a:lnSpc>
                <a:spcPts val="1739"/>
              </a:lnSpc>
            </a:pPr>
            <a:r>
              <a:rPr sz="1200" b="0" i="0" u="none">
                <a:solidFill>
                  <a:srgbClr val="000000"/>
                </a:solidFill>
                <a:latin typeface="Inter"/>
              </a:rPr>
              <a:t>The proposed Business Idea Generator Agent stands out by combining </a:t>
            </a:r>
            <a:r>
              <a:rPr sz="1200" b="1" i="0" u="none">
                <a:solidFill>
                  <a:srgbClr val="000000"/>
                </a:solidFill>
                <a:latin typeface="Inter"/>
              </a:rPr>
              <a:t>Agentic AI, RAG, and personalization</a:t>
            </a:r>
            <a:r>
              <a:rPr sz="1200" b="0" i="0" u="none">
                <a:solidFill>
                  <a:srgbClr val="000000"/>
                </a:solidFill>
                <a:latin typeface="Inter"/>
              </a:rPr>
              <a:t> into a single intelligent system.</a:t>
            </a:r>
          </a:p>
        </p:txBody>
      </p:sp>
      <p:sp>
        <p:nvSpPr>
          <p:cNvPr id="4" name="TextBox 3"/>
          <p:cNvSpPr txBox="1"/>
          <p:nvPr/>
        </p:nvSpPr>
        <p:spPr>
          <a:xfrm>
            <a:off x="762000" y="5090517"/>
            <a:ext cx="10668000" cy="220860"/>
          </a:xfrm>
          <a:prstGeom prst="rect">
            <a:avLst/>
          </a:prstGeom>
          <a:noFill/>
        </p:spPr>
        <p:txBody>
          <a:bodyPr wrap="square" lIns="0" tIns="0" rIns="0" bIns="0" anchor="t">
            <a:spAutoFit/>
          </a:bodyPr>
          <a:lstStyle/>
          <a:p>
            <a:pPr algn="l">
              <a:lnSpc>
                <a:spcPts val="1739"/>
              </a:lnSpc>
            </a:pPr>
            <a:r>
              <a:rPr sz="1200" b="0" i="0" u="none">
                <a:solidFill>
                  <a:srgbClr val="000000"/>
                </a:solidFill>
                <a:latin typeface="Inter"/>
              </a:rPr>
              <a:t>This makes the solution a </a:t>
            </a:r>
            <a:r>
              <a:rPr sz="1200" b="1" i="0" u="none">
                <a:solidFill>
                  <a:srgbClr val="000000"/>
                </a:solidFill>
                <a:latin typeface="Inter"/>
              </a:rPr>
              <a:t>smart, adaptive, and proactive digital business consultant</a:t>
            </a:r>
            <a:r>
              <a:rPr sz="1200" b="0" i="0" u="none">
                <a:solidFill>
                  <a:srgbClr val="000000"/>
                </a:solidFill>
                <a:latin typeface="Inter"/>
              </a:rPr>
              <a:t>, not just a static business template generator.</a:t>
            </a:r>
          </a:p>
        </p:txBody>
      </p:sp>
      <p:sp>
        <p:nvSpPr>
          <p:cNvPr id="5" name="TextBox 4"/>
          <p:cNvSpPr txBox="1"/>
          <p:nvPr/>
        </p:nvSpPr>
        <p:spPr>
          <a:xfrm>
            <a:off x="866775" y="1602938"/>
            <a:ext cx="85725" cy="219075"/>
          </a:xfrm>
          <a:prstGeom prst="rect">
            <a:avLst/>
          </a:prstGeom>
          <a:noFill/>
        </p:spPr>
        <p:txBody>
          <a:bodyPr wrap="square" lIns="0" tIns="0" rIns="0" bIns="0" anchor="t">
            <a:spAutoFit/>
          </a:bodyPr>
          <a:lstStyle/>
          <a:p>
            <a:pPr algn="l"/>
            <a:r>
              <a:rPr sz="1200" b="0" i="0" u="none">
                <a:solidFill>
                  <a:srgbClr val="000000"/>
                </a:solidFill>
                <a:latin typeface="Inter"/>
              </a:rPr>
              <a:t>•</a:t>
            </a:r>
          </a:p>
        </p:txBody>
      </p:sp>
      <p:sp>
        <p:nvSpPr>
          <p:cNvPr id="6" name="TextBox 5"/>
          <p:cNvSpPr txBox="1"/>
          <p:nvPr/>
        </p:nvSpPr>
        <p:spPr>
          <a:xfrm>
            <a:off x="952500" y="1601985"/>
            <a:ext cx="10477500" cy="441721"/>
          </a:xfrm>
          <a:prstGeom prst="rect">
            <a:avLst/>
          </a:prstGeom>
          <a:noFill/>
        </p:spPr>
        <p:txBody>
          <a:bodyPr wrap="square" lIns="85725" tIns="0" rIns="0" bIns="0" anchor="t">
            <a:spAutoFit/>
          </a:bodyPr>
          <a:lstStyle/>
          <a:p>
            <a:pPr algn="l">
              <a:lnSpc>
                <a:spcPts val="1739"/>
              </a:lnSpc>
            </a:pPr>
            <a:r>
              <a:rPr sz="1200" b="1" i="0" u="none">
                <a:solidFill>
                  <a:srgbClr val="000000"/>
                </a:solidFill>
                <a:latin typeface="Inter"/>
              </a:rPr>
              <a:t>Multi-Agent Intelligence</a:t>
            </a:r>
            <a:r>
              <a:rPr sz="1200" b="0" i="0" u="none">
                <a:solidFill>
                  <a:srgbClr val="000000"/>
                </a:solidFill>
                <a:latin typeface="Inter"/>
              </a:rPr>
              <a:t> – Instead of a simple chatbot, multiple specialized agents collaborate to deliver accurate and context-aware business feasibility and planning guidance.</a:t>
            </a:r>
          </a:p>
        </p:txBody>
      </p:sp>
      <p:sp>
        <p:nvSpPr>
          <p:cNvPr id="7" name="TextBox 6"/>
          <p:cNvSpPr txBox="1"/>
          <p:nvPr/>
        </p:nvSpPr>
        <p:spPr>
          <a:xfrm>
            <a:off x="866775" y="2158960"/>
            <a:ext cx="85725" cy="219075"/>
          </a:xfrm>
          <a:prstGeom prst="rect">
            <a:avLst/>
          </a:prstGeom>
          <a:noFill/>
        </p:spPr>
        <p:txBody>
          <a:bodyPr wrap="square" lIns="0" tIns="0" rIns="0" bIns="0" anchor="t">
            <a:spAutoFit/>
          </a:bodyPr>
          <a:lstStyle/>
          <a:p>
            <a:pPr algn="l"/>
            <a:r>
              <a:rPr sz="1200" b="0" i="0" u="none">
                <a:solidFill>
                  <a:srgbClr val="000000"/>
                </a:solidFill>
                <a:latin typeface="Inter"/>
              </a:rPr>
              <a:t>•</a:t>
            </a:r>
          </a:p>
        </p:txBody>
      </p:sp>
      <p:sp>
        <p:nvSpPr>
          <p:cNvPr id="8" name="TextBox 7"/>
          <p:cNvSpPr txBox="1"/>
          <p:nvPr/>
        </p:nvSpPr>
        <p:spPr>
          <a:xfrm>
            <a:off x="952500" y="2158007"/>
            <a:ext cx="10477500" cy="441721"/>
          </a:xfrm>
          <a:prstGeom prst="rect">
            <a:avLst/>
          </a:prstGeom>
          <a:noFill/>
        </p:spPr>
        <p:txBody>
          <a:bodyPr wrap="square" lIns="85725" tIns="0" rIns="0" bIns="0" anchor="t">
            <a:spAutoFit/>
          </a:bodyPr>
          <a:lstStyle/>
          <a:p>
            <a:pPr algn="l">
              <a:lnSpc>
                <a:spcPts val="1739"/>
              </a:lnSpc>
            </a:pPr>
            <a:r>
              <a:rPr sz="1200" b="1" i="0" u="none">
                <a:solidFill>
                  <a:srgbClr val="000000"/>
                </a:solidFill>
                <a:latin typeface="Inter"/>
              </a:rPr>
              <a:t>RAG-Based Accuracy</a:t>
            </a:r>
            <a:r>
              <a:rPr sz="1200" b="0" i="0" u="none">
                <a:solidFill>
                  <a:srgbClr val="000000"/>
                </a:solidFill>
                <a:latin typeface="Inter"/>
              </a:rPr>
              <a:t> – Integrates real-time market data retrieval with AI generation, reducing misinformation and ensuring trustworthy, up-to-date business recommendations.</a:t>
            </a:r>
          </a:p>
        </p:txBody>
      </p:sp>
      <p:sp>
        <p:nvSpPr>
          <p:cNvPr id="9" name="TextBox 8"/>
          <p:cNvSpPr txBox="1"/>
          <p:nvPr/>
        </p:nvSpPr>
        <p:spPr>
          <a:xfrm>
            <a:off x="866775" y="2714982"/>
            <a:ext cx="85725" cy="219075"/>
          </a:xfrm>
          <a:prstGeom prst="rect">
            <a:avLst/>
          </a:prstGeom>
          <a:noFill/>
        </p:spPr>
        <p:txBody>
          <a:bodyPr wrap="square" lIns="0" tIns="0" rIns="0" bIns="0" anchor="t">
            <a:spAutoFit/>
          </a:bodyPr>
          <a:lstStyle/>
          <a:p>
            <a:pPr algn="l"/>
            <a:r>
              <a:rPr sz="1200" b="0" i="0" u="none">
                <a:solidFill>
                  <a:srgbClr val="000000"/>
                </a:solidFill>
                <a:latin typeface="Inter"/>
              </a:rPr>
              <a:t>•</a:t>
            </a:r>
          </a:p>
        </p:txBody>
      </p:sp>
      <p:sp>
        <p:nvSpPr>
          <p:cNvPr id="10" name="TextBox 9"/>
          <p:cNvSpPr txBox="1"/>
          <p:nvPr/>
        </p:nvSpPr>
        <p:spPr>
          <a:xfrm>
            <a:off x="952500" y="2714029"/>
            <a:ext cx="10477500" cy="441721"/>
          </a:xfrm>
          <a:prstGeom prst="rect">
            <a:avLst/>
          </a:prstGeom>
          <a:noFill/>
        </p:spPr>
        <p:txBody>
          <a:bodyPr wrap="square" lIns="85725" tIns="0" rIns="0" bIns="0" anchor="t">
            <a:spAutoFit/>
          </a:bodyPr>
          <a:lstStyle/>
          <a:p>
            <a:pPr algn="l">
              <a:lnSpc>
                <a:spcPts val="1739"/>
              </a:lnSpc>
            </a:pPr>
            <a:r>
              <a:rPr sz="1200" b="1" i="0" u="none">
                <a:solidFill>
                  <a:srgbClr val="000000"/>
                </a:solidFill>
                <a:latin typeface="Inter"/>
              </a:rPr>
              <a:t>Hyper-Personalization</a:t>
            </a:r>
            <a:r>
              <a:rPr sz="1200" b="0" i="0" u="none">
                <a:solidFill>
                  <a:srgbClr val="000000"/>
                </a:solidFill>
                <a:latin typeface="Inter"/>
              </a:rPr>
              <a:t> – Tailors business strategies, risk profiles, and roadmap blueprints based on user capital, industry experience, and regional requirements.</a:t>
            </a:r>
          </a:p>
        </p:txBody>
      </p:sp>
      <p:sp>
        <p:nvSpPr>
          <p:cNvPr id="11" name="TextBox 10"/>
          <p:cNvSpPr txBox="1"/>
          <p:nvPr/>
        </p:nvSpPr>
        <p:spPr>
          <a:xfrm>
            <a:off x="866775" y="3271004"/>
            <a:ext cx="85725" cy="219075"/>
          </a:xfrm>
          <a:prstGeom prst="rect">
            <a:avLst/>
          </a:prstGeom>
          <a:noFill/>
        </p:spPr>
        <p:txBody>
          <a:bodyPr wrap="square" lIns="0" tIns="0" rIns="0" bIns="0" anchor="t">
            <a:spAutoFit/>
          </a:bodyPr>
          <a:lstStyle/>
          <a:p>
            <a:pPr algn="l"/>
            <a:r>
              <a:rPr sz="1200" b="0" i="0" u="none">
                <a:solidFill>
                  <a:srgbClr val="000000"/>
                </a:solidFill>
                <a:latin typeface="Inter"/>
              </a:rPr>
              <a:t>•</a:t>
            </a:r>
          </a:p>
        </p:txBody>
      </p:sp>
      <p:sp>
        <p:nvSpPr>
          <p:cNvPr id="12" name="TextBox 11"/>
          <p:cNvSpPr txBox="1"/>
          <p:nvPr/>
        </p:nvSpPr>
        <p:spPr>
          <a:xfrm>
            <a:off x="952500" y="3270051"/>
            <a:ext cx="10477500" cy="441721"/>
          </a:xfrm>
          <a:prstGeom prst="rect">
            <a:avLst/>
          </a:prstGeom>
          <a:noFill/>
        </p:spPr>
        <p:txBody>
          <a:bodyPr wrap="square" lIns="85725" tIns="0" rIns="0" bIns="0" anchor="t">
            <a:spAutoFit/>
          </a:bodyPr>
          <a:lstStyle/>
          <a:p>
            <a:pPr algn="l">
              <a:lnSpc>
                <a:spcPts val="1739"/>
              </a:lnSpc>
            </a:pPr>
            <a:r>
              <a:rPr sz="1200" b="1" i="0" u="none">
                <a:solidFill>
                  <a:srgbClr val="000000"/>
                </a:solidFill>
                <a:latin typeface="Inter"/>
              </a:rPr>
              <a:t>Real-Time Feedback Loop</a:t>
            </a:r>
            <a:r>
              <a:rPr sz="1200" b="0" i="0" u="none">
                <a:solidFill>
                  <a:srgbClr val="000000"/>
                </a:solidFill>
                <a:latin typeface="Inter"/>
              </a:rPr>
              <a:t> – Continuously adapts recommendations based on pitch modifications, custom dataset uploads, and user pivot details.</a:t>
            </a:r>
          </a:p>
        </p:txBody>
      </p:sp>
      <p:sp>
        <p:nvSpPr>
          <p:cNvPr id="13" name="TextBox 12"/>
          <p:cNvSpPr txBox="1"/>
          <p:nvPr/>
        </p:nvSpPr>
        <p:spPr>
          <a:xfrm>
            <a:off x="866775" y="3827025"/>
            <a:ext cx="85725" cy="219075"/>
          </a:xfrm>
          <a:prstGeom prst="rect">
            <a:avLst/>
          </a:prstGeom>
          <a:noFill/>
        </p:spPr>
        <p:txBody>
          <a:bodyPr wrap="square" lIns="0" tIns="0" rIns="0" bIns="0" anchor="t">
            <a:spAutoFit/>
          </a:bodyPr>
          <a:lstStyle/>
          <a:p>
            <a:pPr algn="l"/>
            <a:r>
              <a:rPr sz="1200" b="0" i="0" u="none">
                <a:solidFill>
                  <a:srgbClr val="000000"/>
                </a:solidFill>
                <a:latin typeface="Inter"/>
              </a:rPr>
              <a:t>•</a:t>
            </a:r>
          </a:p>
        </p:txBody>
      </p:sp>
      <p:sp>
        <p:nvSpPr>
          <p:cNvPr id="14" name="TextBox 13"/>
          <p:cNvSpPr txBox="1"/>
          <p:nvPr/>
        </p:nvSpPr>
        <p:spPr>
          <a:xfrm>
            <a:off x="952500" y="3826073"/>
            <a:ext cx="10477500" cy="220860"/>
          </a:xfrm>
          <a:prstGeom prst="rect">
            <a:avLst/>
          </a:prstGeom>
          <a:noFill/>
        </p:spPr>
        <p:txBody>
          <a:bodyPr wrap="square" lIns="85725" tIns="0" rIns="0" bIns="0" anchor="t">
            <a:spAutoFit/>
          </a:bodyPr>
          <a:lstStyle/>
          <a:p>
            <a:pPr algn="l">
              <a:lnSpc>
                <a:spcPts val="1739"/>
              </a:lnSpc>
            </a:pPr>
            <a:r>
              <a:rPr sz="1200" b="1" i="0" u="none" dirty="0">
                <a:solidFill>
                  <a:srgbClr val="000000"/>
                </a:solidFill>
                <a:latin typeface="Inter"/>
              </a:rPr>
              <a:t>Multi-Modal Input</a:t>
            </a:r>
            <a:r>
              <a:rPr sz="1200" b="0" i="0" u="none" dirty="0">
                <a:solidFill>
                  <a:srgbClr val="000000"/>
                </a:solidFill>
                <a:latin typeface="Inter"/>
              </a:rPr>
              <a:t> – Supports text, voice, and document uploads (like pitch decks or financial models) for seamless ideation and validation.</a:t>
            </a:r>
          </a:p>
        </p:txBody>
      </p:sp>
      <p:sp>
        <p:nvSpPr>
          <p:cNvPr id="15" name="TextBox 14"/>
          <p:cNvSpPr txBox="1"/>
          <p:nvPr/>
        </p:nvSpPr>
        <p:spPr>
          <a:xfrm>
            <a:off x="866775" y="4162186"/>
            <a:ext cx="85725" cy="219075"/>
          </a:xfrm>
          <a:prstGeom prst="rect">
            <a:avLst/>
          </a:prstGeom>
          <a:noFill/>
        </p:spPr>
        <p:txBody>
          <a:bodyPr wrap="square" lIns="0" tIns="0" rIns="0" bIns="0" anchor="t">
            <a:spAutoFit/>
          </a:bodyPr>
          <a:lstStyle/>
          <a:p>
            <a:pPr algn="l"/>
            <a:r>
              <a:rPr sz="1200" b="0" i="0" u="none">
                <a:solidFill>
                  <a:srgbClr val="000000"/>
                </a:solidFill>
                <a:latin typeface="Inter"/>
              </a:rPr>
              <a:t>•</a:t>
            </a:r>
          </a:p>
        </p:txBody>
      </p:sp>
      <p:sp>
        <p:nvSpPr>
          <p:cNvPr id="16" name="TextBox 15"/>
          <p:cNvSpPr txBox="1"/>
          <p:nvPr/>
        </p:nvSpPr>
        <p:spPr>
          <a:xfrm>
            <a:off x="952500" y="4161234"/>
            <a:ext cx="10477500" cy="220860"/>
          </a:xfrm>
          <a:prstGeom prst="rect">
            <a:avLst/>
          </a:prstGeom>
          <a:noFill/>
        </p:spPr>
        <p:txBody>
          <a:bodyPr wrap="square" lIns="85725" tIns="0" rIns="0" bIns="0" anchor="t">
            <a:spAutoFit/>
          </a:bodyPr>
          <a:lstStyle/>
          <a:p>
            <a:pPr algn="l">
              <a:lnSpc>
                <a:spcPts val="1739"/>
              </a:lnSpc>
            </a:pPr>
            <a:r>
              <a:rPr sz="1200" b="1" i="0" u="none">
                <a:solidFill>
                  <a:srgbClr val="000000"/>
                </a:solidFill>
                <a:latin typeface="Inter"/>
              </a:rPr>
              <a:t>Risk-Mitigation Focus</a:t>
            </a:r>
            <a:r>
              <a:rPr sz="1200" b="0" i="0" u="none">
                <a:solidFill>
                  <a:srgbClr val="000000"/>
                </a:solidFill>
                <a:latin typeface="Inter"/>
              </a:rPr>
              <a:t> – Goes beyond simple idea generation to provide structured compliance, geographic feasibility, and competitor analysis.</a:t>
            </a:r>
          </a:p>
        </p:txBody>
      </p:sp>
      <p:sp>
        <p:nvSpPr>
          <p:cNvPr id="17" name="TextBox 16"/>
          <p:cNvSpPr txBox="1"/>
          <p:nvPr/>
        </p:nvSpPr>
        <p:spPr>
          <a:xfrm>
            <a:off x="866775" y="4497347"/>
            <a:ext cx="85725" cy="219075"/>
          </a:xfrm>
          <a:prstGeom prst="rect">
            <a:avLst/>
          </a:prstGeom>
          <a:noFill/>
        </p:spPr>
        <p:txBody>
          <a:bodyPr wrap="square" lIns="0" tIns="0" rIns="0" bIns="0" anchor="t">
            <a:spAutoFit/>
          </a:bodyPr>
          <a:lstStyle/>
          <a:p>
            <a:pPr algn="l"/>
            <a:r>
              <a:rPr sz="1200" b="0" i="0" u="none">
                <a:solidFill>
                  <a:srgbClr val="000000"/>
                </a:solidFill>
                <a:latin typeface="Inter"/>
              </a:rPr>
              <a:t>•</a:t>
            </a:r>
          </a:p>
        </p:txBody>
      </p:sp>
      <p:sp>
        <p:nvSpPr>
          <p:cNvPr id="18" name="TextBox 17"/>
          <p:cNvSpPr txBox="1"/>
          <p:nvPr/>
        </p:nvSpPr>
        <p:spPr>
          <a:xfrm>
            <a:off x="952500" y="4496395"/>
            <a:ext cx="10477500" cy="441721"/>
          </a:xfrm>
          <a:prstGeom prst="rect">
            <a:avLst/>
          </a:prstGeom>
          <a:noFill/>
        </p:spPr>
        <p:txBody>
          <a:bodyPr wrap="square" lIns="85725" tIns="0" rIns="0" bIns="0" anchor="t">
            <a:spAutoFit/>
          </a:bodyPr>
          <a:lstStyle/>
          <a:p>
            <a:pPr algn="l">
              <a:lnSpc>
                <a:spcPts val="1739"/>
              </a:lnSpc>
            </a:pPr>
            <a:r>
              <a:rPr sz="1200" b="1" i="0" u="none">
                <a:solidFill>
                  <a:srgbClr val="000000"/>
                </a:solidFill>
                <a:latin typeface="Inter"/>
              </a:rPr>
              <a:t>Scalable &amp; Enterprise-Ready</a:t>
            </a:r>
            <a:r>
              <a:rPr sz="1200" b="0" i="0" u="none">
                <a:solidFill>
                  <a:srgbClr val="000000"/>
                </a:solidFill>
                <a:latin typeface="Inter"/>
              </a:rPr>
              <a:t> – Built on </a:t>
            </a:r>
            <a:r>
              <a:rPr sz="1200" b="1" i="0" u="none">
                <a:solidFill>
                  <a:srgbClr val="000000"/>
                </a:solidFill>
                <a:latin typeface="Inter"/>
              </a:rPr>
              <a:t>IBM watsonx.ai</a:t>
            </a:r>
            <a:r>
              <a:rPr sz="1200" b="0" i="0" u="none">
                <a:solidFill>
                  <a:srgbClr val="000000"/>
                </a:solidFill>
                <a:latin typeface="Inter"/>
              </a:rPr>
              <a:t> with </a:t>
            </a:r>
            <a:r>
              <a:rPr sz="1200" b="1" i="0" u="none">
                <a:solidFill>
                  <a:srgbClr val="000000"/>
                </a:solidFill>
                <a:latin typeface="Inter"/>
              </a:rPr>
              <a:t>IBM Granite models</a:t>
            </a:r>
            <a:r>
              <a:rPr sz="1200" b="0" i="0" u="none">
                <a:solidFill>
                  <a:srgbClr val="000000"/>
                </a:solidFill>
                <a:latin typeface="Inter"/>
              </a:rPr>
              <a:t>, ensuring enterprise-grade reliability and regulatory governance.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https://github.com/kesarkarmadesh-eng/IBM-project-submission-MK</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571500"/>
            <a:ext cx="11201400" cy="438150"/>
          </a:xfrm>
          <a:prstGeom prst="rect">
            <a:avLst/>
          </a:prstGeom>
          <a:noFill/>
        </p:spPr>
        <p:txBody>
          <a:bodyPr wrap="square" lIns="0" tIns="0" rIns="0" bIns="0" anchor="t">
            <a:spAutoFit/>
          </a:bodyPr>
          <a:lstStyle/>
          <a:p>
            <a:pPr algn="l"/>
            <a:r>
              <a:rPr sz="2850" b="1" i="0" u="none">
                <a:solidFill>
                  <a:srgbClr val="000000"/>
                </a:solidFill>
                <a:latin typeface="Inter"/>
              </a:rPr>
              <a:t>Future Scope</a:t>
            </a:r>
          </a:p>
        </p:txBody>
      </p:sp>
      <p:sp>
        <p:nvSpPr>
          <p:cNvPr id="3" name="TextBox 2"/>
          <p:cNvSpPr txBox="1"/>
          <p:nvPr/>
        </p:nvSpPr>
        <p:spPr>
          <a:xfrm>
            <a:off x="762000" y="1247775"/>
            <a:ext cx="10668000" cy="286425"/>
          </a:xfrm>
          <a:prstGeom prst="rect">
            <a:avLst/>
          </a:prstGeom>
          <a:noFill/>
        </p:spPr>
        <p:txBody>
          <a:bodyPr wrap="square" lIns="0" tIns="0" rIns="0" bIns="0" anchor="t">
            <a:spAutoFit/>
          </a:bodyPr>
          <a:lstStyle/>
          <a:p>
            <a:pPr algn="l">
              <a:lnSpc>
                <a:spcPts val="2400"/>
              </a:lnSpc>
            </a:pPr>
            <a:r>
              <a:rPr sz="1850" b="1" dirty="0">
                <a:solidFill>
                  <a:srgbClr val="2B3541"/>
                </a:solidFill>
                <a:latin typeface="Times New Roman"/>
                <a:cs typeface="Times New Roman"/>
              </a:rPr>
              <a:t>1</a:t>
            </a:r>
            <a:r>
              <a:rPr sz="1500" b="0" i="0" u="none" dirty="0">
                <a:solidFill>
                  <a:srgbClr val="000000"/>
                </a:solidFill>
                <a:latin typeface="Inter Black"/>
              </a:rPr>
              <a:t>.</a:t>
            </a:r>
            <a:r>
              <a:rPr sz="1850" b="1" dirty="0">
                <a:solidFill>
                  <a:srgbClr val="2B3541"/>
                </a:solidFill>
                <a:latin typeface="Times New Roman"/>
                <a:cs typeface="Times New Roman"/>
              </a:rPr>
              <a:t>Integration with Enterprise Platforms &amp; Financial Feeds –</a:t>
            </a:r>
          </a:p>
        </p:txBody>
      </p:sp>
      <p:sp>
        <p:nvSpPr>
          <p:cNvPr id="4" name="TextBox 3"/>
          <p:cNvSpPr txBox="1"/>
          <p:nvPr/>
        </p:nvSpPr>
        <p:spPr>
          <a:xfrm>
            <a:off x="762000" y="1609725"/>
            <a:ext cx="10668000" cy="1077218"/>
          </a:xfrm>
          <a:prstGeom prst="rect">
            <a:avLst/>
          </a:prstGeom>
          <a:noFill/>
        </p:spPr>
        <p:txBody>
          <a:bodyPr wrap="square" lIns="0" tIns="0" rIns="0" bIns="0" anchor="t">
            <a:spAutoFit/>
          </a:bodyPr>
          <a:lstStyle/>
          <a:p>
            <a:pPr>
              <a:lnSpc>
                <a:spcPts val="2092"/>
              </a:lnSpc>
            </a:pPr>
            <a:r>
              <a:rPr sz="1850" dirty="0">
                <a:solidFill>
                  <a:srgbClr val="2B3541"/>
                </a:solidFill>
                <a:latin typeface="Times New Roman"/>
                <a:cs typeface="Times New Roman"/>
              </a:rPr>
              <a:t>The system can be integrated with enterprise CRM, ERP networks, and real-time financial data feeds to collect actionable business operations metrics, market pricing shifts, and regional regulatory variations. This will enable the Business Idea Generator Agent to provide more accurate and dynamic project pivot guidelines based on actual market performance metrics and local economic indicators.</a:t>
            </a:r>
          </a:p>
        </p:txBody>
      </p:sp>
      <p:sp>
        <p:nvSpPr>
          <p:cNvPr id="5" name="TextBox 4"/>
          <p:cNvSpPr txBox="1"/>
          <p:nvPr/>
        </p:nvSpPr>
        <p:spPr>
          <a:xfrm>
            <a:off x="762000" y="2910482"/>
            <a:ext cx="10668000" cy="286425"/>
          </a:xfrm>
          <a:prstGeom prst="rect">
            <a:avLst/>
          </a:prstGeom>
          <a:noFill/>
        </p:spPr>
        <p:txBody>
          <a:bodyPr wrap="square" lIns="0" tIns="0" rIns="0" bIns="0" anchor="t">
            <a:spAutoFit/>
          </a:bodyPr>
          <a:lstStyle/>
          <a:p>
            <a:pPr algn="l">
              <a:lnSpc>
                <a:spcPts val="2400"/>
              </a:lnSpc>
            </a:pPr>
            <a:r>
              <a:rPr sz="1850" b="1" dirty="0">
                <a:solidFill>
                  <a:srgbClr val="2B3541"/>
                </a:solidFill>
                <a:latin typeface="Times New Roman"/>
                <a:cs typeface="Times New Roman"/>
              </a:rPr>
              <a:t>2</a:t>
            </a:r>
            <a:r>
              <a:rPr sz="1500" b="0" i="0" u="none" dirty="0">
                <a:solidFill>
                  <a:srgbClr val="000000"/>
                </a:solidFill>
                <a:latin typeface="Inter Black"/>
              </a:rPr>
              <a:t>.</a:t>
            </a:r>
            <a:r>
              <a:rPr sz="1850" b="1" dirty="0">
                <a:solidFill>
                  <a:srgbClr val="2B3541"/>
                </a:solidFill>
                <a:latin typeface="Times New Roman"/>
                <a:cs typeface="Times New Roman"/>
              </a:rPr>
              <a:t>AI-Powered Voice Pitching &amp; Multilingual Support –</a:t>
            </a:r>
          </a:p>
        </p:txBody>
      </p:sp>
      <p:sp>
        <p:nvSpPr>
          <p:cNvPr id="6" name="TextBox 5"/>
          <p:cNvSpPr txBox="1"/>
          <p:nvPr/>
        </p:nvSpPr>
        <p:spPr>
          <a:xfrm>
            <a:off x="762000" y="3272432"/>
            <a:ext cx="10668000" cy="1077218"/>
          </a:xfrm>
          <a:prstGeom prst="rect">
            <a:avLst/>
          </a:prstGeom>
          <a:noFill/>
        </p:spPr>
        <p:txBody>
          <a:bodyPr wrap="square" lIns="0" tIns="0" rIns="0" bIns="0" anchor="t">
            <a:spAutoFit/>
          </a:bodyPr>
          <a:lstStyle/>
          <a:p>
            <a:pPr algn="l">
              <a:lnSpc>
                <a:spcPts val="2092"/>
              </a:lnSpc>
            </a:pPr>
            <a:r>
              <a:rPr sz="1850" dirty="0">
                <a:solidFill>
                  <a:srgbClr val="2B3541"/>
                </a:solidFill>
                <a:latin typeface="Times New Roman"/>
                <a:cs typeface="Times New Roman"/>
              </a:rPr>
              <a:t>Enhancing the system with an interactive voice-enabled conversational assistant and support for multiple languages will significantly improve product accessibility. Users can pitch their preliminary ideas naturally in their native language and receive conversational feedback, making the solution more inclusive and suitable for global entrepreneurship ecosystems, especially in regions with diverse linguistic backgrounds.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7" name="Picture 6">
            <a:extLst>
              <a:ext uri="{FF2B5EF4-FFF2-40B4-BE49-F238E27FC236}">
                <a16:creationId xmlns:a16="http://schemas.microsoft.com/office/drawing/2014/main" id="{59E452E7-6D30-2712-A84C-D08E293A37BB}"/>
              </a:ext>
            </a:extLst>
          </p:cNvPr>
          <p:cNvPicPr>
            <a:picLocks noChangeAspect="1"/>
          </p:cNvPicPr>
          <p:nvPr/>
        </p:nvPicPr>
        <p:blipFill>
          <a:blip r:embed="rId2"/>
          <a:stretch>
            <a:fillRect/>
          </a:stretch>
        </p:blipFill>
        <p:spPr>
          <a:xfrm>
            <a:off x="926675" y="1213282"/>
            <a:ext cx="9852332" cy="5644718"/>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0117B-7715-78E8-FE1F-0E894F14199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E651FE7-D201-F9C7-E87D-A399BC6EAA0F}"/>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DD32185B-510E-A028-CA4C-76AF9A4B9FED}"/>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4" name="Picture 3">
            <a:extLst>
              <a:ext uri="{FF2B5EF4-FFF2-40B4-BE49-F238E27FC236}">
                <a16:creationId xmlns:a16="http://schemas.microsoft.com/office/drawing/2014/main" id="{946790D2-79BD-A3B6-5AE8-00DB380A79A6}"/>
              </a:ext>
            </a:extLst>
          </p:cNvPr>
          <p:cNvPicPr>
            <a:picLocks noChangeAspect="1"/>
          </p:cNvPicPr>
          <p:nvPr/>
        </p:nvPicPr>
        <p:blipFill>
          <a:blip r:embed="rId2"/>
          <a:stretch>
            <a:fillRect/>
          </a:stretch>
        </p:blipFill>
        <p:spPr>
          <a:xfrm>
            <a:off x="601418" y="1186850"/>
            <a:ext cx="9978620" cy="5671150"/>
          </a:xfrm>
          <a:prstGeom prst="rect">
            <a:avLst/>
          </a:prstGeom>
        </p:spPr>
      </p:pic>
    </p:spTree>
    <p:extLst>
      <p:ext uri="{BB962C8B-B14F-4D97-AF65-F5344CB8AC3E}">
        <p14:creationId xmlns:p14="http://schemas.microsoft.com/office/powerpoint/2010/main" val="2473140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28324567-CE0E-DDC7-5FB4-C991701A6E45}"/>
              </a:ext>
            </a:extLst>
          </p:cNvPr>
          <p:cNvPicPr>
            <a:picLocks noChangeAspect="1"/>
          </p:cNvPicPr>
          <p:nvPr/>
        </p:nvPicPr>
        <p:blipFill>
          <a:blip r:embed="rId2"/>
          <a:stretch>
            <a:fillRect/>
          </a:stretch>
        </p:blipFill>
        <p:spPr>
          <a:xfrm rot="5400000">
            <a:off x="2541345" y="346886"/>
            <a:ext cx="5657420" cy="7364808"/>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1559</Words>
  <Application>Microsoft Office PowerPoint</Application>
  <PresentationFormat>Widescreen</PresentationFormat>
  <Paragraphs>115</Paragraphs>
  <Slides>16</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IBM Plex Sans</vt:lpstr>
      <vt:lpstr>Inter</vt:lpstr>
      <vt:lpstr>Inter Black</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Madesh kesarkar</dc:creator>
  <cp:lastModifiedBy>shubham singh</cp:lastModifiedBy>
  <cp:revision>15</cp:revision>
  <dcterms:created xsi:type="dcterms:W3CDTF">2025-07-08T05:06:56Z</dcterms:created>
  <dcterms:modified xsi:type="dcterms:W3CDTF">2026-07-16T05:11:24Z</dcterms:modified>
</cp:coreProperties>
</file>